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1" r:id="rId1"/>
  </p:sldLayoutIdLst>
  <p:txStyles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Privacy-Preserving Financial NER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Named Entity Recognition for automated PCI/PII detection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NLP activity: concept, implementation, validation and presentation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A separate project in the llm-aat repository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Synthetic data only; raw sensitive values stay behind the scanner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1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The problem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Financial text carries high-impact sensitive entities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Customer emails, support transcripts and payment logs may contain PII or cardholder data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Blindly sending raw text to analytics or LLM systems creates a privacy boundary failure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Goal: detect, classify, validate and redact before downstream processing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2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Why NER is the right topic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A domain-specific application of a core syllabus technique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BIO tagging labels the beginning and continuation of each entity span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Labels: PERSON, EMAIL, PHONE, CARD_NUMBER, ACCOUNT_NUMBER, TAX_ID, ADDRESS, TRANSACTION_ID and ORGANIZATION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The output is useful for both redaction and audit evidence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3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System architecture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A transparent hybrid pipeline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Tokenizer preserves character offsets and produces BIO labels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Rules layer validates structured identifiers and applies a Luhn checksum to card-like values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Averaged perceptron uses word shape, context, prefixes, suffixes and previous BIO labels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Overlap resolver returns masked spans and a privacy note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4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Dataset and experiment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Reproducible synthetic financial corpus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600 examples generated from payment, KYC, refund, billing and support templates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70% train · 15% development · 15% test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Seed: 42 · eight training epochs · exact character-span evaluation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No real personal or payment data is used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5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Approach comparison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Rules are precise; context-aware learning recovers language entities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Rules baseline: Precision 1.0000 · Recall 0.6255 · F1 0.7696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Averaged perceptron: Precision 0.9960 · Recall 0.9960 · F1 0.9960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Hybrid rules + model: Precision 0.9960 · Recall 0.9960 · F1 0.9960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6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Example output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The service protects downstream systems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Input: Maya Rao emailed maya.rao@example.com about card 4111 1111 1111 1111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Output: [PERSON] emailed [EMAIL] about card [CARD_NUMBER]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API: GET /health, GET /demo, POST /redact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The response contains masked metadata, not raw values for an LLM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7</a:t>
              </a:r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720000" y="480000"/>
            <a:ext cx="11200000" cy="8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3000">
                  <a:b/>
                  <a:solidFill>
                    <a:srgbClr val="41D7C3"/>
                  </a:solidFill>
                </a:rPr>
                <a:t>Conclusion</a:t>
              </a:r>
            </a:r>
            <a:endParaRPr lang="en-US" sz="3000"/>
          </a:p>
        </p:txBody>
      </p:sp>
      <p:sp>
        <p:nvSpPr>
          <p:cNvPr id="3" name="TextBox 3"/>
          <p:cNvSpPr/>
          <p:nvPr/>
        </p:nvSpPr>
        <p:spPr>
          <a:xfrm>
            <a:off x="720000" y="1300000"/>
            <a:ext cx="11200000" cy="6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1450">
                  <a:solidFill>
                    <a:srgbClr val="8CA7B1"/>
                  </a:solidFill>
                </a:rPr>
                <a:t>A practical, privacy-first NER contribution</a:t>
              </a:r>
            </a:r>
            <a:endParaRPr lang="en-US" sz="1450"/>
          </a:p>
        </p:txBody>
      </p:sp>
      <p:sp>
        <p:nvSpPr>
          <p:cNvPr id="4" name="TextBox 4"/>
          <p:cNvSpPr/>
          <p:nvPr/>
        </p:nvSpPr>
        <p:spPr>
          <a:xfrm>
            <a:off x="950000" y="2300000"/>
            <a:ext cx="10500000" cy="430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The hybrid architecture combines explicit validation with contextual language understanding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The synthetic benchmark is a controlled classroom experiment, not a production guarantee</a:t>
              </a:r>
            </a:r>
            <a:endParaRPr lang="en-US" sz="2100"/>
          </a:p>
          <a:p>
            <a:pPr marL="0" algn="l"/>
            <a:r>
              <a:r>
                <a:rPr lang="en-US" sz="2100">
                  <a:solidFill>
                    <a:srgbClr val="EAF4F4"/>
                  </a:solidFill>
                </a:rPr>
                <a:t>• Next: held-out templates, human annotation, transformer comparison, calibration and SentinelOS integration</a:t>
              </a:r>
            </a:r>
            <a:endParaRPr lang="en-US" sz="2100"/>
          </a:p>
        </p:txBody>
      </p:sp>
      <p:sp>
        <p:nvSpPr>
          <p:cNvPr id="5" name="TextBox 5"/>
          <p:cNvSpPr/>
          <p:nvPr/>
        </p:nvSpPr>
        <p:spPr>
          <a:xfrm>
            <a:off x="720000" y="6900000"/>
            <a:ext cx="11200000" cy="250000"/>
          </a:xfrm>
          <a:prstGeom prst="rect">
            <a:avLst/>
          </a:prstGeom>
          <a:solidFill>
            <a:srgbClr val="07131D"/>
          </a:solidFill>
          <a:ln>
            <a:noFill/>
          </a:ln>
        </p:spPr>
        <p:txBody>
          <a:bodyPr wrap="square"/>
          <a:lstStyle/>
          <a:p>
            <a:pPr marL="0" algn="l"/>
            <a:r>
              <a:r>
                <a:rPr lang="en-US" sz="900">
                  <a:solidFill>
                    <a:srgbClr val="5C7A85"/>
                  </a:solidFill>
                </a:rPr>
                <a:t>SentinelOS NLP activity  ·  8</a:t>
              </a:r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ntinelOS">
  <a:themeElements>
    <a:clrScheme name="Sentinel">
      <a:dk1>
        <a:srgbClr val="07131D"/>
      </a:dk1>
      <a:lt1>
        <a:srgbClr val="EAF4F4"/>
      </a:lt1>
      <a:dk2>
        <a:srgbClr val="102C3A"/>
      </a:dk2>
      <a:lt2>
        <a:srgbClr val="8CA7B1"/>
      </a:lt2>
      <a:accent1>
        <a:srgbClr val="41D7C3"/>
      </a:accent1>
      <a:accent2>
        <a:srgbClr val="A992FF"/>
      </a:accent2>
      <a:accent3>
        <a:srgbClr val="FF7F78"/>
      </a:accent3>
      <a:accent4>
        <a:srgbClr val="F3B56D"/>
      </a:accent4>
      <a:accent5>
        <a:srgbClr val="75DF9C"/>
      </a:accent5>
      <a:accent6>
        <a:srgbClr val="FFFFFF"/>
      </a:accent6>
      <a:hlink>
        <a:srgbClr val="41D7C3"/>
      </a:hlink>
      <a:folHlink>
        <a:srgbClr val="A992FF"/>
      </a:folHlink>
    </a:clrScheme>
    <a:fontScheme name="Sentinel">
      <a:majorFont>
        <a:latin typeface="Aptos Display"/>
      </a:majorFont>
      <a:minorFont>
        <a:latin typeface="Aptos"/>
      </a:minorFont>
    </a:fontScheme>
    <a:fmtScheme name="Sentinel">
      <a:fillStyleLst/>
      <a:lnStyleLst/>
      <a:effectStyleLst/>
      <a:bgFillStyleLst/>
    </a:fmtScheme>
  </a:themeElements>
</a:theme>
</file>