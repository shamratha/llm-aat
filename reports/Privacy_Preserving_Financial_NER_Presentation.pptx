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500000" y="350000"/>
            <a:ext cx="1160000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2850">
                  <a:b/>
                  <a:solidFill>
                    <a:srgbClr val="1A1A1A"/>
                  </a:solidFill>
                </a:rPr>
                <a:t>B.M.S. COLLEGE OF ENGINEERING</a:t>
              </a:r>
            </a:r>
            <a:endParaRPr lang="en-US" sz="2850"/>
          </a:p>
        </p:txBody>
      </p:sp>
      <p:sp>
        <p:nvSpPr>
          <p:cNvPr id="3" name="TextBox 3"/>
          <p:cNvSpPr/>
          <p:nvPr/>
        </p:nvSpPr>
        <p:spPr>
          <a:xfrm>
            <a:off x="500000" y="780000"/>
            <a:ext cx="116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1250">
                  <a:solidFill>
                    <a:srgbClr val="1A1A1A"/>
                  </a:solidFill>
                </a:rPr>
                <a:t>(Autonomous Institute, Affiliated to VTU, Belagavi)</a:t>
              </a:r>
            </a:r>
            <a:endParaRPr lang="en-US" sz="1250"/>
          </a:p>
        </p:txBody>
      </p:sp>
      <p:sp>
        <p:nvSpPr>
          <p:cNvPr id="4" name="TextBox 4"/>
          <p:cNvSpPr/>
          <p:nvPr/>
        </p:nvSpPr>
        <p:spPr>
          <a:xfrm>
            <a:off x="500000" y="1180000"/>
            <a:ext cx="11600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2650">
                  <a:b/>
                  <a:solidFill>
                    <a:srgbClr val="0000CC"/>
                  </a:solidFill>
                </a:rPr>
                <a:t>DEPARTMENT OF MACHINE LEARNING</a:t>
              </a:r>
            </a:r>
            <a:endParaRPr lang="en-US" sz="2650"/>
          </a:p>
        </p:txBody>
      </p:sp>
      <p:sp>
        <p:nvSpPr>
          <p:cNvPr id="5" name="TextBox 5"/>
          <p:cNvSpPr/>
          <p:nvPr/>
        </p:nvSpPr>
        <p:spPr>
          <a:xfrm>
            <a:off x="500000" y="1740000"/>
            <a:ext cx="116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1350">
                  <a:solidFill>
                    <a:srgbClr val="0000CC"/>
                  </a:solidFill>
                </a:rPr>
                <a:t>(UG Program: B.E. in Artificial Intelligence and Machine Learning)</a:t>
              </a:r>
            </a:r>
            <a:endParaRPr lang="en-US" sz="1350"/>
          </a:p>
        </p:txBody>
      </p:sp>
      <p:sp>
        <p:nvSpPr>
          <p:cNvPr id="6" name="TextBox 6"/>
          <p:cNvSpPr/>
          <p:nvPr/>
        </p:nvSpPr>
        <p:spPr>
          <a:xfrm>
            <a:off x="500000" y="2450000"/>
            <a:ext cx="11600000" cy="4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2050">
                  <a:b/>
                  <a:solidFill>
                    <a:srgbClr val="6B3E25"/>
                  </a:solidFill>
                </a:rPr>
                <a:t>Course: Natural Language Processing for LLM</a:t>
              </a:r>
            </a:r>
            <a:endParaRPr lang="en-US" sz="2050"/>
          </a:p>
          <a:p>
            <a:pPr marL="0" algn="l"/>
            <a:r>
              <a:r>
                <a:rPr lang="en-US" sz="2050">
                  <a:b/>
                  <a:solidFill>
                    <a:srgbClr val="6B3E25"/>
                  </a:solidFill>
                </a:rPr>
                <a:t>Course Code: 24AM7PCLLM</a:t>
              </a:r>
            </a:r>
            <a:endParaRPr lang="en-US" sz="2050"/>
          </a:p>
        </p:txBody>
      </p:sp>
      <p:sp>
        <p:nvSpPr>
          <p:cNvPr id="7" name="TextBox 7"/>
          <p:cNvSpPr/>
          <p:nvPr/>
        </p:nvSpPr>
        <p:spPr>
          <a:xfrm>
            <a:off x="500000" y="3300000"/>
            <a:ext cx="11600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2200">
                  <a:b/>
                  <a:solidFill>
                    <a:srgbClr val="0000CC"/>
                  </a:solidFill>
                </a:rPr>
                <a:t>PRIVACY-PRESERVING NAMED ENTITY RECOGNITION</a:t>
              </a:r>
            </a:r>
            <a:endParaRPr lang="en-US" sz="2200"/>
          </a:p>
          <a:p>
            <a:pPr marL="0" algn="l"/>
            <a:r>
              <a:r>
                <a:rPr lang="en-US" sz="2200">
                  <a:b/>
                  <a:solidFill>
                    <a:srgbClr val="0000CC"/>
                  </a:solidFill>
                </a:rPr>
                <a:t>FOR AUTOMATED PCI/PII DETECTION IN FINANCIAL TEXT</a:t>
              </a:r>
            </a:r>
            <a:endParaRPr lang="en-US" sz="2200"/>
          </a:p>
        </p:txBody>
      </p:sp>
      <p:sp>
        <p:nvSpPr>
          <p:cNvPr id="8" name="TextBox 8"/>
          <p:cNvSpPr/>
          <p:nvPr/>
        </p:nvSpPr>
        <p:spPr>
          <a:xfrm>
            <a:off x="500000" y="4050000"/>
            <a:ext cx="116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1550">
                  <a:b/>
                  <a:solidFill>
                    <a:srgbClr val="A52A74"/>
                  </a:solidFill>
                </a:rPr>
                <a:t>Alternative Assessment Tool (AAT)</a:t>
              </a:r>
            </a:r>
            <a:endParaRPr lang="en-US" sz="1550"/>
          </a:p>
        </p:txBody>
      </p:sp>
      <p:sp>
        <p:nvSpPr>
          <p:cNvPr id="9" name="TextBox 9"/>
          <p:cNvSpPr/>
          <p:nvPr/>
        </p:nvSpPr>
        <p:spPr>
          <a:xfrm>
            <a:off x="500000" y="5050000"/>
            <a:ext cx="530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1250">
                  <a:solidFill>
                    <a:srgbClr val="1A1A1A"/>
                  </a:solidFill>
                </a:rPr>
                <a:t>Presented By,</a:t>
              </a:r>
            </a:r>
            <a:endParaRPr lang="en-US" sz="1250"/>
          </a:p>
          <a:p>
            <a:pPr marL="0" algn="l"/>
            <a:r>
              <a:r>
                <a:rPr lang="en-US" sz="1250">
                  <a:solidFill>
                    <a:srgbClr val="1A1A1A"/>
                  </a:solidFill>
                </a:rPr>
                <a:t>Student Name &amp; USN: __________________</a:t>
              </a:r>
            </a:r>
            <a:endParaRPr lang="en-US" sz="1250"/>
          </a:p>
          <a:p>
            <a:pPr marL="0" algn="l"/>
            <a:r>
              <a:r>
                <a:rPr lang="en-US" sz="1250">
                  <a:solidFill>
                    <a:srgbClr val="1A1A1A"/>
                  </a:solidFill>
                </a:rPr>
                <a:t>Student Name &amp; USN: __________________</a:t>
              </a:r>
            </a:r>
            <a:endParaRPr lang="en-US" sz="1250"/>
          </a:p>
          <a:p>
            <a:pPr marL="0" algn="l"/>
            <a:r>
              <a:r>
                <a:rPr lang="en-US" sz="1250">
                  <a:solidFill>
                    <a:srgbClr val="1A1A1A"/>
                  </a:solidFill>
                </a:rPr>
                <a:t>Semester &amp; Section: 7C</a:t>
              </a:r>
            </a:r>
            <a:endParaRPr lang="en-US" sz="1250"/>
          </a:p>
          <a:p>
            <a:pPr marL="0" algn="l"/>
            <a:r>
              <a:r>
                <a:rPr lang="en-US" sz="1250">
                  <a:solidFill>
                    <a:srgbClr val="1A1A1A"/>
                  </a:solidFill>
                </a:rPr>
                <a:t>Date: __________________</a:t>
              </a:r>
            </a:r>
            <a:endParaRPr lang="en-US" sz="1250"/>
          </a:p>
        </p:txBody>
      </p:sp>
      <p:sp>
        <p:nvSpPr>
          <p:cNvPr id="10" name="TextBox 10"/>
          <p:cNvSpPr/>
          <p:nvPr/>
        </p:nvSpPr>
        <p:spPr>
          <a:xfrm>
            <a:off x="6700000" y="5050000"/>
            <a:ext cx="510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1250">
                  <a:solidFill>
                    <a:srgbClr val="1A1A1A"/>
                  </a:solidFill>
                </a:rPr>
                <a:t>Faculty In-Charge:</a:t>
              </a:r>
            </a:r>
            <a:endParaRPr lang="en-US" sz="1250"/>
          </a:p>
          <a:p>
            <a:pPr marL="0" algn="l"/>
            <a:r>
              <a:r>
                <a:rPr lang="en-US" sz="1250">
                  <a:solidFill>
                    <a:srgbClr val="1A1A1A"/>
                  </a:solidFill>
                </a:rPr>
                <a:t>Upeksha Prasad G</a:t>
              </a:r>
            </a:r>
            <a:endParaRPr lang="en-US" sz="1250"/>
          </a:p>
          <a:p>
            <a:pPr marL="0" algn="l"/>
            <a:r>
              <a:r>
                <a:rPr lang="en-US" sz="1250">
                  <a:solidFill>
                    <a:srgbClr val="1A1A1A"/>
                  </a:solidFill>
                </a:rPr>
                <a:t>Assistant Professor</a:t>
              </a:r>
            </a:r>
            <a:endParaRPr lang="en-US" sz="1250"/>
          </a:p>
          <a:p>
            <a:pPr marL="0" algn="l"/>
            <a:r>
              <a:r>
                <a:rPr lang="en-US" sz="1250">
                  <a:solidFill>
                    <a:srgbClr val="1A1A1A"/>
                  </a:solidFill>
                </a:rPr>
                <a:t>Department of Machine Learning</a:t>
              </a:r>
            </a:r>
            <a:endParaRPr lang="en-US" sz="1250"/>
          </a:p>
          <a:p>
            <a:pPr marL="0" algn="l"/>
            <a:r>
              <a:r>
                <a:rPr lang="en-US" sz="1250">
                  <a:solidFill>
                    <a:srgbClr val="1A1A1A"/>
                  </a:solidFill>
                </a:rPr>
                <a:t>BMS College of Engineering</a:t>
              </a:r>
            </a:r>
            <a:endParaRPr lang="en-US" sz="12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720000" y="420000"/>
            <a:ext cx="1120000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3000">
                  <a:b/>
                  <a:solidFill>
                    <a:srgbClr val="0000CC"/>
                  </a:solidFill>
                </a:rPr>
                <a:t>Agenda</a:t>
              </a:r>
            </a:r>
            <a:endParaRPr lang="en-US" sz="3000"/>
          </a:p>
        </p:txBody>
      </p:sp>
      <p:sp>
        <p:nvSpPr>
          <p:cNvPr id="3" name="TextBox 3"/>
          <p:cNvSpPr/>
          <p:nvPr/>
        </p:nvSpPr>
        <p:spPr>
          <a:xfrm>
            <a:off x="720000" y="1250000"/>
            <a:ext cx="112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1450">
                  <a:solidFill>
                    <a:srgbClr val="6B3E25"/>
                  </a:solidFill>
                </a:rPr>
                <a:t>Alternative Assessment Tool (AAT)</a:t>
              </a:r>
            </a:r>
            <a:endParaRPr lang="en-US" sz="1450"/>
          </a:p>
        </p:txBody>
      </p:sp>
      <p:sp>
        <p:nvSpPr>
          <p:cNvPr id="4" name="TextBox 4"/>
          <p:cNvSpPr/>
          <p:nvPr/>
        </p:nvSpPr>
        <p:spPr>
          <a:xfrm>
            <a:off x="950000" y="2200000"/>
            <a:ext cx="10500000" cy="4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Introduction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Selected NLP Topic Overview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Real-Time Application / API Identified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NLP Model / Architecture Study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Dataset and Preprocessing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Implementation Methodology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Results and Evaluation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Discussion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Conclusion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References</a:t>
              </a:r>
            </a:r>
            <a:endParaRPr lang="en-US" sz="2100"/>
          </a:p>
        </p:txBody>
      </p:sp>
      <p:sp>
        <p:nvSpPr>
          <p:cNvPr id="5" name="TextBox 5"/>
          <p:cNvSpPr/>
          <p:nvPr/>
        </p:nvSpPr>
        <p:spPr>
          <a:xfrm>
            <a:off x="720000" y="6900000"/>
            <a:ext cx="1120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900">
                  <a:solidFill>
                    <a:srgbClr val="6B3E25"/>
                  </a:solidFill>
                </a:rPr>
                <a:t>Natural Language Processing for LLM · 24AM7PCLLM · 2</a:t>
              </a:r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720000" y="420000"/>
            <a:ext cx="1120000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3000">
                  <a:b/>
                  <a:solidFill>
                    <a:srgbClr val="0000CC"/>
                  </a:solidFill>
                </a:rPr>
                <a:t>Introduction</a:t>
              </a:r>
            </a:r>
            <a:endParaRPr lang="en-US" sz="3000"/>
          </a:p>
        </p:txBody>
      </p:sp>
      <p:sp>
        <p:nvSpPr>
          <p:cNvPr id="3" name="TextBox 3"/>
          <p:cNvSpPr/>
          <p:nvPr/>
        </p:nvSpPr>
        <p:spPr>
          <a:xfrm>
            <a:off x="720000" y="1250000"/>
            <a:ext cx="112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1450">
                  <a:solidFill>
                    <a:srgbClr val="6B3E25"/>
                  </a:solidFill>
                </a:rPr>
                <a:t>Why sensitive financial text needs a privacy boundary</a:t>
              </a:r>
            </a:r>
            <a:endParaRPr lang="en-US" sz="1450"/>
          </a:p>
        </p:txBody>
      </p:sp>
      <p:sp>
        <p:nvSpPr>
          <p:cNvPr id="4" name="TextBox 4"/>
          <p:cNvSpPr/>
          <p:nvPr/>
        </p:nvSpPr>
        <p:spPr>
          <a:xfrm>
            <a:off x="950000" y="2200000"/>
            <a:ext cx="10500000" cy="4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Financial institutions process emails, support cases, transactions and operational logs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These texts may contain PII or payment-card information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NER can identify sensitive spans before analytics or language-model processing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This project demonstrates detection, validation and redaction with synthetic data</a:t>
              </a:r>
            </a:r>
            <a:endParaRPr lang="en-US" sz="2100"/>
          </a:p>
        </p:txBody>
      </p:sp>
      <p:sp>
        <p:nvSpPr>
          <p:cNvPr id="5" name="TextBox 5"/>
          <p:cNvSpPr/>
          <p:nvPr/>
        </p:nvSpPr>
        <p:spPr>
          <a:xfrm>
            <a:off x="720000" y="6900000"/>
            <a:ext cx="1120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900">
                  <a:solidFill>
                    <a:srgbClr val="6B3E25"/>
                  </a:solidFill>
                </a:rPr>
                <a:t>Natural Language Processing for LLM · 24AM7PCLLM · 3</a:t>
              </a:r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720000" y="420000"/>
            <a:ext cx="1120000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3000">
                  <a:b/>
                  <a:solidFill>
                    <a:srgbClr val="0000CC"/>
                  </a:solidFill>
                </a:rPr>
                <a:t>Selected NLP Topic Overview</a:t>
              </a:r>
            </a:r>
            <a:endParaRPr lang="en-US" sz="3000"/>
          </a:p>
        </p:txBody>
      </p:sp>
      <p:sp>
        <p:nvSpPr>
          <p:cNvPr id="3" name="TextBox 3"/>
          <p:cNvSpPr/>
          <p:nvPr/>
        </p:nvSpPr>
        <p:spPr>
          <a:xfrm>
            <a:off x="720000" y="1250000"/>
            <a:ext cx="112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1450">
                  <a:solidFill>
                    <a:srgbClr val="6B3E25"/>
                  </a:solidFill>
                </a:rPr>
                <a:t>Named Entity Recognition (NER)</a:t>
              </a:r>
            </a:r>
            <a:endParaRPr lang="en-US" sz="1450"/>
          </a:p>
        </p:txBody>
      </p:sp>
      <p:sp>
        <p:nvSpPr>
          <p:cNvPr id="4" name="TextBox 4"/>
          <p:cNvSpPr/>
          <p:nvPr/>
        </p:nvSpPr>
        <p:spPr>
          <a:xfrm>
            <a:off x="950000" y="2200000"/>
            <a:ext cx="10500000" cy="4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NER assigns semantic labels to text spans using BIO tagging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Financial labels: PERSON, EMAIL, PHONE, CARD_NUMBER, ACCOUNT_NUMBER, TAX_ID, ADDRESS, TRANSACTION_ID and ORGANIZATION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Application: local compliance data-loss prevention for financial text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Challenge: protect against false negatives without creating excessive false positives</a:t>
              </a:r>
            </a:r>
            <a:endParaRPr lang="en-US" sz="2100"/>
          </a:p>
        </p:txBody>
      </p:sp>
      <p:sp>
        <p:nvSpPr>
          <p:cNvPr id="5" name="TextBox 5"/>
          <p:cNvSpPr/>
          <p:nvPr/>
        </p:nvSpPr>
        <p:spPr>
          <a:xfrm>
            <a:off x="720000" y="6900000"/>
            <a:ext cx="1120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900">
                  <a:solidFill>
                    <a:srgbClr val="6B3E25"/>
                  </a:solidFill>
                </a:rPr>
                <a:t>Natural Language Processing for LLM · 24AM7PCLLM · 4</a:t>
              </a:r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720000" y="420000"/>
            <a:ext cx="1120000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3000">
                  <a:b/>
                  <a:solidFill>
                    <a:srgbClr val="0000CC"/>
                  </a:solidFill>
                </a:rPr>
                <a:t>Real-Time Application / API Identified</a:t>
              </a:r>
            </a:r>
            <a:endParaRPr lang="en-US" sz="3000"/>
          </a:p>
        </p:txBody>
      </p:sp>
      <p:sp>
        <p:nvSpPr>
          <p:cNvPr id="3" name="TextBox 3"/>
          <p:cNvSpPr/>
          <p:nvPr/>
        </p:nvSpPr>
        <p:spPr>
          <a:xfrm>
            <a:off x="720000" y="1250000"/>
            <a:ext cx="112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1450">
                  <a:solidFill>
                    <a:srgbClr val="6B3E25"/>
                  </a:solidFill>
                </a:rPr>
                <a:t>Privacy-preserving financial text redaction service</a:t>
              </a:r>
            </a:r>
            <a:endParaRPr lang="en-US" sz="1450"/>
          </a:p>
        </p:txBody>
      </p:sp>
      <p:sp>
        <p:nvSpPr>
          <p:cNvPr id="4" name="TextBox 4"/>
          <p:cNvSpPr/>
          <p:nvPr/>
        </p:nvSpPr>
        <p:spPr>
          <a:xfrm>
            <a:off x="950000" y="2200000"/>
            <a:ext cx="10500000" cy="4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API endpoints: GET /health, GET /demo and POST /redact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Input is raw text in the local scanner; output is masked text and entity metadata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The service can sit before an LLM, ticketing system, data warehouse or monitoring tool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Raw values should remain inside a controlled scanning boundary</a:t>
              </a:r>
            </a:r>
            <a:endParaRPr lang="en-US" sz="2100"/>
          </a:p>
        </p:txBody>
      </p:sp>
      <p:sp>
        <p:nvSpPr>
          <p:cNvPr id="5" name="TextBox 5"/>
          <p:cNvSpPr/>
          <p:nvPr/>
        </p:nvSpPr>
        <p:spPr>
          <a:xfrm>
            <a:off x="720000" y="6900000"/>
            <a:ext cx="1120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900">
                  <a:solidFill>
                    <a:srgbClr val="6B3E25"/>
                  </a:solidFill>
                </a:rPr>
                <a:t>Natural Language Processing for LLM · 24AM7PCLLM · 5</a:t>
              </a:r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720000" y="420000"/>
            <a:ext cx="1120000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3000">
                  <a:b/>
                  <a:solidFill>
                    <a:srgbClr val="0000CC"/>
                  </a:solidFill>
                </a:rPr>
                <a:t>NLP Model / Architecture Study</a:t>
              </a:r>
            </a:r>
            <a:endParaRPr lang="en-US" sz="3000"/>
          </a:p>
        </p:txBody>
      </p:sp>
      <p:sp>
        <p:nvSpPr>
          <p:cNvPr id="3" name="TextBox 3"/>
          <p:cNvSpPr/>
          <p:nvPr/>
        </p:nvSpPr>
        <p:spPr>
          <a:xfrm>
            <a:off x="720000" y="1250000"/>
            <a:ext cx="112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1450">
                  <a:solidFill>
                    <a:srgbClr val="6B3E25"/>
                  </a:solidFill>
                </a:rPr>
                <a:t>Transparent hybrid architecture</a:t>
              </a:r>
            </a:r>
            <a:endParaRPr lang="en-US" sz="1450"/>
          </a:p>
        </p:txBody>
      </p:sp>
      <p:sp>
        <p:nvSpPr>
          <p:cNvPr id="4" name="TextBox 4"/>
          <p:cNvSpPr/>
          <p:nvPr/>
        </p:nvSpPr>
        <p:spPr>
          <a:xfrm>
            <a:off x="950000" y="2200000"/>
            <a:ext cx="10500000" cy="4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Tokenizer preserves character offsets and converts spans to BIO labels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Rules layer validates structured identifiers and applies Luhn verification to card-like values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Averaged perceptron uses token shape, context, prefixes, suffixes and previous BIO labels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Overlap resolution returns one auditable set of entities for redaction</a:t>
              </a:r>
            </a:r>
            <a:endParaRPr lang="en-US" sz="2100"/>
          </a:p>
        </p:txBody>
      </p:sp>
      <p:sp>
        <p:nvSpPr>
          <p:cNvPr id="5" name="TextBox 5"/>
          <p:cNvSpPr/>
          <p:nvPr/>
        </p:nvSpPr>
        <p:spPr>
          <a:xfrm>
            <a:off x="720000" y="6900000"/>
            <a:ext cx="1120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900">
                  <a:solidFill>
                    <a:srgbClr val="6B3E25"/>
                  </a:solidFill>
                </a:rPr>
                <a:t>Natural Language Processing for LLM · 24AM7PCLLM · 6</a:t>
              </a:r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720000" y="420000"/>
            <a:ext cx="1120000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3000">
                  <a:b/>
                  <a:solidFill>
                    <a:srgbClr val="0000CC"/>
                  </a:solidFill>
                </a:rPr>
                <a:t>Dataset and Preprocessing</a:t>
              </a:r>
            </a:r>
            <a:endParaRPr lang="en-US" sz="3000"/>
          </a:p>
        </p:txBody>
      </p:sp>
      <p:sp>
        <p:nvSpPr>
          <p:cNvPr id="3" name="TextBox 3"/>
          <p:cNvSpPr/>
          <p:nvPr/>
        </p:nvSpPr>
        <p:spPr>
          <a:xfrm>
            <a:off x="720000" y="1250000"/>
            <a:ext cx="112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1450">
                  <a:solidFill>
                    <a:srgbClr val="6B3E25"/>
                  </a:solidFill>
                </a:rPr>
                <a:t>Reproducible synthetic financial corpus</a:t>
              </a:r>
            </a:r>
            <a:endParaRPr lang="en-US" sz="1450"/>
          </a:p>
        </p:txBody>
      </p:sp>
      <p:sp>
        <p:nvSpPr>
          <p:cNvPr id="4" name="TextBox 4"/>
          <p:cNvSpPr/>
          <p:nvPr/>
        </p:nvSpPr>
        <p:spPr>
          <a:xfrm>
            <a:off x="950000" y="2200000"/>
            <a:ext cx="10500000" cy="4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600 examples from payment, KYC, refund, billing, support and privacy templates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Split: 420 train · 90 development · 90 test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Seed: 42; character-level spans; tokenization; BIO conversion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No real personal or payment data is used</a:t>
              </a:r>
            </a:r>
            <a:endParaRPr lang="en-US" sz="2100"/>
          </a:p>
        </p:txBody>
      </p:sp>
      <p:sp>
        <p:nvSpPr>
          <p:cNvPr id="5" name="TextBox 5"/>
          <p:cNvSpPr/>
          <p:nvPr/>
        </p:nvSpPr>
        <p:spPr>
          <a:xfrm>
            <a:off x="720000" y="6900000"/>
            <a:ext cx="1120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900">
                  <a:solidFill>
                    <a:srgbClr val="6B3E25"/>
                  </a:solidFill>
                </a:rPr>
                <a:t>Natural Language Processing for LLM · 24AM7PCLLM · 7</a:t>
              </a:r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720000" y="420000"/>
            <a:ext cx="1120000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3000">
                  <a:b/>
                  <a:solidFill>
                    <a:srgbClr val="0000CC"/>
                  </a:solidFill>
                </a:rPr>
                <a:t>Implementation Methodology</a:t>
              </a:r>
            </a:r>
            <a:endParaRPr lang="en-US" sz="3000"/>
          </a:p>
        </p:txBody>
      </p:sp>
      <p:sp>
        <p:nvSpPr>
          <p:cNvPr id="3" name="TextBox 3"/>
          <p:cNvSpPr/>
          <p:nvPr/>
        </p:nvSpPr>
        <p:spPr>
          <a:xfrm>
            <a:off x="720000" y="1250000"/>
            <a:ext cx="112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1450">
                  <a:solidFill>
                    <a:srgbClr val="6B3E25"/>
                  </a:solidFill>
                </a:rPr>
                <a:t>From corpus generation to API response</a:t>
              </a:r>
            </a:r>
            <a:endParaRPr lang="en-US" sz="1450"/>
          </a:p>
        </p:txBody>
      </p:sp>
      <p:sp>
        <p:nvSpPr>
          <p:cNvPr id="4" name="TextBox 4"/>
          <p:cNvSpPr/>
          <p:nvPr/>
        </p:nvSpPr>
        <p:spPr>
          <a:xfrm>
            <a:off x="950000" y="2200000"/>
            <a:ext cx="10500000" cy="4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Generate synthetic examples and gold entity spans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Train the averaged perceptron for eight epochs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Run rules, model and hybrid approaches on the held-out test split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Serialize metrics, sample predictions and dataset JSONL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Expose the detector through a dependency-free local JSON API</a:t>
              </a:r>
            </a:r>
            <a:endParaRPr lang="en-US" sz="2100"/>
          </a:p>
        </p:txBody>
      </p:sp>
      <p:sp>
        <p:nvSpPr>
          <p:cNvPr id="5" name="TextBox 5"/>
          <p:cNvSpPr/>
          <p:nvPr/>
        </p:nvSpPr>
        <p:spPr>
          <a:xfrm>
            <a:off x="720000" y="6900000"/>
            <a:ext cx="1120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900">
                  <a:solidFill>
                    <a:srgbClr val="6B3E25"/>
                  </a:solidFill>
                </a:rPr>
                <a:t>Natural Language Processing for LLM · 24AM7PCLLM · 8</a:t>
              </a:r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720000" y="420000"/>
            <a:ext cx="1120000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3000">
                  <a:b/>
                  <a:solidFill>
                    <a:srgbClr val="0000CC"/>
                  </a:solidFill>
                </a:rPr>
                <a:t>Results and Evaluation</a:t>
              </a:r>
            </a:r>
            <a:endParaRPr lang="en-US" sz="3000"/>
          </a:p>
        </p:txBody>
      </p:sp>
      <p:sp>
        <p:nvSpPr>
          <p:cNvPr id="3" name="TextBox 3"/>
          <p:cNvSpPr/>
          <p:nvPr/>
        </p:nvSpPr>
        <p:spPr>
          <a:xfrm>
            <a:off x="720000" y="1250000"/>
            <a:ext cx="112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1450">
                  <a:solidFill>
                    <a:srgbClr val="6B3E25"/>
                  </a:solidFill>
                </a:rPr>
                <a:t>Exact entity-level comparison</a:t>
              </a:r>
            </a:r>
            <a:endParaRPr lang="en-US" sz="1450"/>
          </a:p>
        </p:txBody>
      </p:sp>
      <p:sp>
        <p:nvSpPr>
          <p:cNvPr id="4" name="TextBox 4"/>
          <p:cNvSpPr/>
          <p:nvPr/>
        </p:nvSpPr>
        <p:spPr>
          <a:xfrm>
            <a:off x="950000" y="2200000"/>
            <a:ext cx="10500000" cy="4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Rules baseline: Precision 1.0000 · Recall 0.6255 · F1 0.7696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Averaged perceptron: Precision 0.9960 · Recall 0.9960 · F1 0.9960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Hybrid rules + model: Precision 0.9960 · Recall 0.9960 · F1 0.9960</a:t>
              </a:r>
            </a:r>
            <a:endParaRPr lang="en-US" sz="2100"/>
          </a:p>
        </p:txBody>
      </p:sp>
      <p:sp>
        <p:nvSpPr>
          <p:cNvPr id="5" name="TextBox 5"/>
          <p:cNvSpPr/>
          <p:nvPr/>
        </p:nvSpPr>
        <p:spPr>
          <a:xfrm>
            <a:off x="720000" y="6900000"/>
            <a:ext cx="1120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900">
                  <a:solidFill>
                    <a:srgbClr val="6B3E25"/>
                  </a:solidFill>
                </a:rPr>
                <a:t>Natural Language Processing for LLM · 24AM7PCLLM · 9</a:t>
              </a:r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720000" y="420000"/>
            <a:ext cx="1120000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3000">
                  <a:b/>
                  <a:solidFill>
                    <a:srgbClr val="0000CC"/>
                  </a:solidFill>
                </a:rPr>
                <a:t>Discussion</a:t>
              </a:r>
            </a:r>
            <a:endParaRPr lang="en-US" sz="3000"/>
          </a:p>
        </p:txBody>
      </p:sp>
      <p:sp>
        <p:nvSpPr>
          <p:cNvPr id="3" name="TextBox 3"/>
          <p:cNvSpPr/>
          <p:nvPr/>
        </p:nvSpPr>
        <p:spPr>
          <a:xfrm>
            <a:off x="720000" y="1250000"/>
            <a:ext cx="112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1450">
                  <a:solidFill>
                    <a:srgbClr val="6B3E25"/>
                  </a:solidFill>
                </a:rPr>
                <a:t>What the comparison tells us</a:t>
              </a:r>
            </a:r>
            <a:endParaRPr lang="en-US" sz="1450"/>
          </a:p>
        </p:txBody>
      </p:sp>
      <p:sp>
        <p:nvSpPr>
          <p:cNvPr id="4" name="TextBox 4"/>
          <p:cNvSpPr/>
          <p:nvPr/>
        </p:nvSpPr>
        <p:spPr>
          <a:xfrm>
            <a:off x="950000" y="2200000"/>
            <a:ext cx="10500000" cy="4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Rules achieved perfect precision but lower recall because they miss contextual PERSON and ORGANIZATION entities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The perceptron recovered contextual entities with 0.9960 entity F1 on the templated corpus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The hybrid design adds explicit validation and remains auditable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The result is educational evidence, not a production generalization claim</a:t>
              </a:r>
            </a:r>
            <a:endParaRPr lang="en-US" sz="2100"/>
          </a:p>
        </p:txBody>
      </p:sp>
      <p:sp>
        <p:nvSpPr>
          <p:cNvPr id="5" name="TextBox 5"/>
          <p:cNvSpPr/>
          <p:nvPr/>
        </p:nvSpPr>
        <p:spPr>
          <a:xfrm>
            <a:off x="720000" y="6900000"/>
            <a:ext cx="1120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900">
                  <a:solidFill>
                    <a:srgbClr val="6B3E25"/>
                  </a:solidFill>
                </a:rPr>
                <a:t>Natural Language Processing for LLM · 24AM7PCLLM · 10</a:t>
              </a:r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720000" y="420000"/>
            <a:ext cx="1120000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3000">
                  <a:b/>
                  <a:solidFill>
                    <a:srgbClr val="0000CC"/>
                  </a:solidFill>
                </a:rPr>
                <a:t>Conclusion</a:t>
              </a:r>
            </a:r>
            <a:endParaRPr lang="en-US" sz="3000"/>
          </a:p>
        </p:txBody>
      </p:sp>
      <p:sp>
        <p:nvSpPr>
          <p:cNvPr id="3" name="TextBox 3"/>
          <p:cNvSpPr/>
          <p:nvPr/>
        </p:nvSpPr>
        <p:spPr>
          <a:xfrm>
            <a:off x="720000" y="1250000"/>
            <a:ext cx="112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1450">
                  <a:solidFill>
                    <a:srgbClr val="6B3E25"/>
                  </a:solidFill>
                </a:rPr>
                <a:t>A practical privacy-first NER contribution</a:t>
              </a:r>
            </a:r>
            <a:endParaRPr lang="en-US" sz="1450"/>
          </a:p>
        </p:txBody>
      </p:sp>
      <p:sp>
        <p:nvSpPr>
          <p:cNvPr id="4" name="TextBox 4"/>
          <p:cNvSpPr/>
          <p:nvPr/>
        </p:nvSpPr>
        <p:spPr>
          <a:xfrm>
            <a:off x="950000" y="2200000"/>
            <a:ext cx="10500000" cy="4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The project implements a complete NLP workflow from dataset construction to API delivery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Contextual NER and deterministic financial validation complement each other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Future work: held-out templates, human annotations, multilingual text and transformer comparison</a:t>
              </a:r>
            </a:r>
            <a:endParaRPr lang="en-US" sz="2100"/>
          </a:p>
        </p:txBody>
      </p:sp>
      <p:sp>
        <p:nvSpPr>
          <p:cNvPr id="5" name="TextBox 5"/>
          <p:cNvSpPr/>
          <p:nvPr/>
        </p:nvSpPr>
        <p:spPr>
          <a:xfrm>
            <a:off x="720000" y="6900000"/>
            <a:ext cx="1120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900">
                  <a:solidFill>
                    <a:srgbClr val="6B3E25"/>
                  </a:solidFill>
                </a:rPr>
                <a:t>Natural Language Processing for LLM · 24AM7PCLLM · 11</a:t>
              </a:r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720000" y="420000"/>
            <a:ext cx="1120000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3000">
                  <a:b/>
                  <a:solidFill>
                    <a:srgbClr val="0000CC"/>
                  </a:solidFill>
                </a:rPr>
                <a:t>References</a:t>
              </a:r>
            </a:r>
            <a:endParaRPr lang="en-US" sz="3000"/>
          </a:p>
        </p:txBody>
      </p:sp>
      <p:sp>
        <p:nvSpPr>
          <p:cNvPr id="3" name="TextBox 3"/>
          <p:cNvSpPr/>
          <p:nvPr/>
        </p:nvSpPr>
        <p:spPr>
          <a:xfrm>
            <a:off x="720000" y="1250000"/>
            <a:ext cx="112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1450">
                  <a:solidFill>
                    <a:srgbClr val="6B3E25"/>
                  </a:solidFill>
                </a:rPr>
                <a:t>Selected literature and standards</a:t>
              </a:r>
            </a:r>
            <a:endParaRPr lang="en-US" sz="1450"/>
          </a:p>
        </p:txBody>
      </p:sp>
      <p:sp>
        <p:nvSpPr>
          <p:cNvPr id="4" name="TextBox 4"/>
          <p:cNvSpPr/>
          <p:nvPr/>
        </p:nvSpPr>
        <p:spPr>
          <a:xfrm>
            <a:off x="950000" y="2200000"/>
            <a:ext cx="10500000" cy="4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Lample et al. (2016), Neural Architectures for Named Entity Recognition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Devlin et al. (2019), BERT: Pre-training of Deep Bidirectional Transformers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Nadeau and Sekine (2007), A survey of named entity recognition and classification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Payment Card Industry Security Standards Council, PCI DSS v4.0.1</a:t>
              </a:r>
            </a:r>
            <a:endParaRPr lang="en-US" sz="2100"/>
          </a:p>
          <a:p>
            <a:pPr marL="0" algn="l"/>
            <a:r>
              <a:r>
                <a:rPr lang="en-US" sz="2100">
                  <a:solidFill>
                    <a:srgbClr val="1A1A1A"/>
                  </a:solidFill>
                </a:rPr>
                <a:t>• Luhn (1960), Computer for verifying numbers</a:t>
              </a:r>
            </a:r>
            <a:endParaRPr lang="en-US" sz="2100"/>
          </a:p>
        </p:txBody>
      </p:sp>
      <p:sp>
        <p:nvSpPr>
          <p:cNvPr id="5" name="TextBox 5"/>
          <p:cNvSpPr/>
          <p:nvPr/>
        </p:nvSpPr>
        <p:spPr>
          <a:xfrm>
            <a:off x="720000" y="6900000"/>
            <a:ext cx="1120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900">
                  <a:solidFill>
                    <a:srgbClr val="6B3E25"/>
                  </a:solidFill>
                </a:rPr>
                <a:t>Natural Language Processing for LLM · 24AM7PCLLM · 12</a:t>
              </a:r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500000" y="2700000"/>
            <a:ext cx="11600000" cy="1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marL="0" algn="l"/>
            <a:r>
              <a:r>
                <a:rPr lang="en-US" sz="4400">
                  <a:solidFill>
                    <a:srgbClr val="1A1A1A"/>
                  </a:solidFill>
                </a:rPr>
                <a:t>Thank you !</a:t>
              </a:r>
            </a:r>
            <a:endParaRPr lang="en-US"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inelOS">
  <a:themeElements>
    <a:clrScheme name="Sentinel">
      <a:dk1>
        <a:srgbClr val="07131D"/>
      </a:dk1>
      <a:lt1>
        <a:srgbClr val="EAF4F4"/>
      </a:lt1>
      <a:dk2>
        <a:srgbClr val="102C3A"/>
      </a:dk2>
      <a:lt2>
        <a:srgbClr val="8CA7B1"/>
      </a:lt2>
      <a:accent1>
        <a:srgbClr val="41D7C3"/>
      </a:accent1>
      <a:accent2>
        <a:srgbClr val="A992FF"/>
      </a:accent2>
      <a:accent3>
        <a:srgbClr val="FF7F78"/>
      </a:accent3>
      <a:accent4>
        <a:srgbClr val="F3B56D"/>
      </a:accent4>
      <a:accent5>
        <a:srgbClr val="75DF9C"/>
      </a:accent5>
      <a:accent6>
        <a:srgbClr val="FFFFFF"/>
      </a:accent6>
      <a:hlink>
        <a:srgbClr val="41D7C3"/>
      </a:hlink>
      <a:folHlink>
        <a:srgbClr val="A992FF"/>
      </a:folHlink>
    </a:clrScheme>
    <a:fontScheme name="Sentinel">
      <a:majorFont>
        <a:latin typeface="Aptos Display"/>
      </a:majorFont>
      <a:minorFont>
        <a:latin typeface="Aptos"/>
      </a:minorFont>
    </a:fontScheme>
    <a:fmtScheme name="Sentinel">
      <a:fillStyleLst/>
      <a:lnStyleLst/>
      <a:effectStyleLst/>
      <a:bgFillStyleLst/>
    </a:fmtScheme>
  </a:themeElements>
</a:theme>
</file>